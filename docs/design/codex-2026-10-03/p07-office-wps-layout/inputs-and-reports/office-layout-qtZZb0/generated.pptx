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40080" y="274320"/>
            <a:ext cx="10972800" cy="1737360"/>
          </a:xfrm>
          <a:prstGeom prst="rect">
            <a:avLst/>
          </a:prstGeom>
          <a:noFill/>
          <a:ln/>
        </p:spPr>
        <p:txBody>
          <a:bodyPr wrap="square" lIns="0" tIns="0" rIns="0" bIns="0" rtlCol="0" anchor="t"/>
          <a:lstStyle/>
          <a:p>
            <a:pPr indent="0" marL="0">
              <a:buNone/>
            </a:pPr>
            <a:r>
              <a:rPr lang="en-US" sz="2400" b="1" dirty="0">
                <a:solidFill>
                  <a:srgbClr val="000000"/>
                </a:solidFill>
              </a:rPr>
              <a:t>中文长标题开始分数教学分数教学分数教学分数教学分数教学分数教学分</a:t>
            </a:r>
            <a:endParaRPr lang="en-US" sz="2400" dirty="0"/>
          </a:p>
          <a:p>
            <a:pPr indent="0" marL="0">
              <a:buNone/>
            </a:pPr>
            <a:r>
              <a:rPr lang="en-US" sz="2400" b="1" dirty="0">
                <a:solidFill>
                  <a:srgbClr val="000000"/>
                </a:solidFill>
              </a:rPr>
              <a:t>数教学分数教学分数教学分数教学分数教学分数教学分数教学分数教学分</a:t>
            </a:r>
            <a:endParaRPr lang="en-US" sz="2400" dirty="0"/>
          </a:p>
          <a:p>
            <a:pPr indent="0" marL="0">
              <a:buNone/>
            </a:pPr>
            <a:r>
              <a:rPr lang="en-US" sz="2400" b="1" dirty="0">
                <a:solidFill>
                  <a:srgbClr val="000000"/>
                </a:solidFill>
              </a:rPr>
              <a:t>数教学分数教学分数教学分数教学分数教学分数教学分数教学分数教学分</a:t>
            </a:r>
            <a:endParaRPr lang="en-US" sz="2400" dirty="0"/>
          </a:p>
          <a:p>
            <a:pPr indent="0" marL="0">
              <a:buNone/>
            </a:pPr>
            <a:r>
              <a:rPr lang="en-US" sz="2400" b="1" dirty="0">
                <a:solidFill>
                  <a:srgbClr val="000000"/>
                </a:solidFill>
              </a:rPr>
              <a:t>数教学分数教学分数教学分数教学标题结束</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274320"/>
            <a:ext cx="10972800" cy="1737360"/>
          </a:xfrm>
          <a:prstGeom prst="rect">
            <a:avLst/>
          </a:prstGeom>
          <a:noFill/>
          <a:ln/>
        </p:spPr>
        <p:txBody>
          <a:bodyPr wrap="square" lIns="0" tIns="0" rIns="0" bIns="0" rtlCol="0" anchor="t"/>
          <a:lstStyle/>
          <a:p>
            <a:pPr indent="0" marL="0">
              <a:buNone/>
            </a:pPr>
            <a:r>
              <a:rPr lang="en-US" sz="2400" b="1" dirty="0">
                <a:solidFill>
                  <a:srgbClr val="000000"/>
                </a:solidFill>
              </a:rPr>
              <a:t>中文章节开始教学安排教学安排教学安排教学安排教学安排教学安排教学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安排教学安排教学安排教学安排章节结束</a:t>
            </a:r>
            <a:endParaRPr lang="en-US" sz="24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72800" cy="914400"/>
        </p:xfrm>
        <a:graphic>
          <a:graphicData uri="http://schemas.openxmlformats.org/drawingml/2006/table">
            <a:tbl>
              <a:tblPr/>
              <a:tblGrid>
                <a:gridCol w="10972800"/>
              </a:tblGrid>
              <a:tr h="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段落开始教师根据课堂证据安排分数训练教师根据课堂证据安排分数训练教师根据课堂证据安排分数训练教师根据课堂证据安</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排分数训练教师根据课堂证据安排分数训练教师根据课堂证据安排分数训练教师根据课堂证据安排分数训练教师根据课堂证据</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安排分数训练教师根据课堂证据安排分数训练教师根据课堂证据安排分数训练教师根据课堂证据安排分数训练教师根据课堂证</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据安排分数训练教师根据课堂证据安排分数训练教师根据课堂证据安排分数训练教师根据课堂证据安排分数训练教师根据课堂</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证据安排分数训练教师根据课堂证据安排分数训练教师根据课堂证据安排分数训练教师根据课堂证据安排分数训练教师根据课</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堂证据安排分数训练教师根据课堂证据安排分数训练教师根据课堂证据安排分数训练教师根据课堂证据安排分数训练教师根据</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课堂证据安排分数训练教师根据课堂证据安排分数训练教师根据课堂证据安排分数训练教师根据课堂证据安排分数训练教师根</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据课堂证据安排分数训练教师根据课堂证据安排分数训练教师根据课堂证据安排分数训练教师根据课堂证据安排分数训练教师</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根据课堂证据安排分数训练教师根据课堂证据安排分数训练教师根据课堂证据安排分数训练教师根据课堂证据安排分数训练教</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师根据课堂证据安排分数训练教师根据课堂证据安排分数训练教师根据课堂证据安排分数训练教师根据课堂证据安排分数训练</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教师根据课堂证据安排分数训练教师根据课堂证据安排分数训练教师根据课堂证据安排分数训练教师根据课堂证据安排分数训</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练教师根据课堂证据安排分数训练教师根据课堂证据安排分数训练教师根据课堂证据安排分数训练教师根据课堂证据安排分数</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训练教师根据课堂证据安排分数训练教师根据课堂证据安排分数训练教师根据课堂证据安排分数训练教师根据课堂证据安排分</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数训练教师根据课堂证据安排分数训练教师根据课堂证据安排分数训练教师根据课堂证据安排分数训练教师根据课堂证据安排</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分数训练教师根据课堂证据安排分数训练教师根据课堂证据安排分数训练教师根据课堂证据安排分数训练教师根据课堂证据安</a:t>
                      </a:r>
                      <a:endParaRPr lang="en-US" sz="1400" dirty="0">
                        <a:latin typeface="Microsoft YaHei" charset="0"/>
                        <a:ea typeface="Microsoft YaHei" charset="0"/>
                        <a:cs typeface="Microsoft YaHei" charset="0"/>
                      </a:endParaRPr>
                    </a:p>
                  </a:txBody>
                  <a:tcPr marL="36576" marR="36576" marT="36576" marB="36576" anchor="t">
                    <a:lnL w="0" cap="flat" cmpd="sng" algn="ctr">
                      <a:noFill/>
                    </a:lnL>
                    <a:lnR w="0" cap="flat" cmpd="sng" algn="ctr">
                      <a:noFill/>
                    </a:lnR>
                    <a:lnT w="0" cap="flat" cmpd="sng" algn="ctr">
                      <a:noFill/>
                    </a:lnT>
                    <a:lnB w="0" cap="flat" cmpd="sng" algn="ctr">
                      <a:noFill/>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72800" cy="914400"/>
        </p:xfrm>
        <a:graphic>
          <a:graphicData uri="http://schemas.openxmlformats.org/drawingml/2006/table">
            <a:tbl>
              <a:tblPr/>
              <a:tblGrid>
                <a:gridCol w="10972800"/>
              </a:tblGrid>
              <a:tr h="0">
                <a:tc>
                  <a:txBody>
                    <a:bodyPr/>
                    <a:lstStyle/>
                    <a:p>
                      <a:pPr indent="0" marL="0">
                        <a:buNone/>
                      </a:pPr>
                      <a:r>
                        <a:rPr lang="en-US" sz="1400" dirty="0">
                          <a:solidFill>
                            <a:srgbClr val="000000"/>
                          </a:solidFill>
                          <a:latin typeface="Microsoft YaHei" pitchFamily="34" charset="0"/>
                          <a:ea typeface="Microsoft YaHei" pitchFamily="34" charset="-122"/>
                          <a:cs typeface="Microsoft YaHei" pitchFamily="34" charset="-120"/>
                        </a:rPr>
                        <a:t>排分数训练教师根据课堂证据安排分数训练教师根据课堂证据安排分数训练教师根据课堂证据安排分数训练教师根据课堂证据</a:t>
                      </a:r>
                      <a:endParaRPr lang="en-US" sz="1400" dirty="0">
                        <a:latin typeface="Microsoft YaHei" charset="0"/>
                        <a:ea typeface="Microsoft YaHei" charset="0"/>
                        <a:cs typeface="Microsoft YaHei" charset="0"/>
                      </a:endParaRPr>
                    </a:p>
                    <a:p>
                      <a:pPr indent="0" marL="0">
                        <a:buNone/>
                      </a:pPr>
                      <a:r>
                        <a:rPr lang="en-US" sz="1400" dirty="0">
                          <a:solidFill>
                            <a:srgbClr val="000000"/>
                          </a:solidFill>
                          <a:latin typeface="Microsoft YaHei" pitchFamily="34" charset="0"/>
                          <a:ea typeface="Microsoft YaHei" pitchFamily="34" charset="-122"/>
                          <a:cs typeface="Microsoft YaHei" pitchFamily="34" charset="-120"/>
                        </a:rPr>
                        <a:t>安排分数训练教师根据课堂证据安排分数训练教师根据课堂证据安排分数训练教师根据课堂证据安排分数训练段落结束</a:t>
                      </a:r>
                      <a:endParaRPr lang="en-US" sz="1400" dirty="0">
                        <a:latin typeface="Microsoft YaHei" charset="0"/>
                        <a:ea typeface="Microsoft YaHei" charset="0"/>
                        <a:cs typeface="Microsoft YaHei" charset="0"/>
                      </a:endParaRPr>
                    </a:p>
                  </a:txBody>
                  <a:tcPr marL="36576" marR="36576" marT="36576" marB="36576" anchor="t">
                    <a:lnL w="0" cap="flat" cmpd="sng" algn="ctr">
                      <a:noFill/>
                    </a:lnL>
                    <a:lnR w="0" cap="flat" cmpd="sng" algn="ctr">
                      <a:noFill/>
                    </a:lnR>
                    <a:lnT w="0" cap="flat" cmpd="sng" algn="ctr">
                      <a:noFill/>
                    </a:lnT>
                    <a:lnB w="0" cap="flat" cmpd="sng" algn="ctr">
                      <a:noFill/>
                    </a:lnB>
                  </a:tcPr>
                </a:tc>
              </a:tr>
            </a:tbl>
          </a:graphicData>
        </a:graphic>
      </p:graphicFrame>
      <p:sp>
        <p:nvSpPr>
          <p:cNvPr id="3" name="Text 0"/>
          <p:cNvSpPr/>
          <p:nvPr/>
        </p:nvSpPr>
        <p:spPr>
          <a:xfrm>
            <a:off x="640080" y="274320"/>
            <a:ext cx="10972800" cy="1737360"/>
          </a:xfrm>
          <a:prstGeom prst="rect">
            <a:avLst/>
          </a:prstGeom>
          <a:noFill/>
          <a:ln/>
        </p:spPr>
        <p:txBody>
          <a:bodyPr wrap="square" lIns="0" tIns="0" rIns="0" bIns="0" rtlCol="0" anchor="t"/>
          <a:lstStyle/>
          <a:p>
            <a:pPr indent="0" marL="0">
              <a:buNone/>
            </a:pPr>
            <a:r>
              <a:rPr lang="en-US" sz="2400" b="1" dirty="0">
                <a:solidFill>
                  <a:srgbClr val="000000"/>
                </a:solidFill>
              </a:rPr>
              <a:t>中文章节开始教学安排教学安排教学安排教学安排教学安排教学安排教学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安排教学安排教学安排教学安排章节结束</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274320"/>
            <a:ext cx="10972800" cy="1737360"/>
          </a:xfrm>
          <a:prstGeom prst="rect">
            <a:avLst/>
          </a:prstGeom>
          <a:noFill/>
          <a:ln/>
        </p:spPr>
        <p:txBody>
          <a:bodyPr wrap="square" lIns="0" tIns="0" rIns="0" bIns="0" rtlCol="0" anchor="t"/>
          <a:lstStyle/>
          <a:p>
            <a:pPr indent="0" marL="0">
              <a:buNone/>
            </a:pPr>
            <a:r>
              <a:rPr lang="en-US" sz="2400" b="1" dirty="0">
                <a:solidFill>
                  <a:srgbClr val="000000"/>
                </a:solidFill>
              </a:rPr>
              <a:t>中文章节开始教学安排教学安排教学安排教学安排教学安排教学安排教学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安排教学安排教学安排教学安排章节结束</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72800" cy="914400"/>
        </p:xfrm>
        <a:graphic>
          <a:graphicData uri="http://schemas.openxmlformats.org/drawingml/2006/table">
            <a:tbl>
              <a:tblPr/>
              <a:tblGrid>
                <a:gridCol w="1371600"/>
                <a:gridCol w="1371600"/>
                <a:gridCol w="1371600"/>
                <a:gridCol w="1371600"/>
                <a:gridCol w="1371600"/>
                <a:gridCol w="1371600"/>
                <a:gridCol w="1371600"/>
                <a:gridCol w="1371600"/>
              </a:tblGrid>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阶段</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任务</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来源</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时长</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练习</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反馈</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确认</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备注</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第1行1列开始课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课堂训练第1行1</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第1行2列开始课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课堂训练第1行2</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第1行3列开始课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课堂训练第1行3</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37</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008</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第1行6列开始课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课堂训练第1行6</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第1行7列开始课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课堂训练第1行7</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第1行8列开始课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课堂训练第1行8</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72800" cy="914400"/>
        </p:xfrm>
        <a:graphic>
          <a:graphicData uri="http://schemas.openxmlformats.org/drawingml/2006/table">
            <a:tbl>
              <a:tblPr/>
              <a:tblGrid>
                <a:gridCol w="1371600"/>
                <a:gridCol w="1371600"/>
                <a:gridCol w="1371600"/>
                <a:gridCol w="1371600"/>
                <a:gridCol w="1371600"/>
                <a:gridCol w="1371600"/>
                <a:gridCol w="1371600"/>
                <a:gridCol w="1371600"/>
              </a:tblGrid>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阶段</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任务</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来源</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时长</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练习</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反馈</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确认</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备注</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第2行1列开始课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课堂训练第2行1</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第2行2列开始课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课堂训练第2行2</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第2行3列开始课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课堂训练第2行3</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37</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008</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第2行6列开始课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课堂训练第2行6</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第2行7列开始课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课堂训练第2行7</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第2行8列开始课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课堂训练第2行8</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第3行1列开始课</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第3行2列开始课</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第3行3列开始课</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37</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008</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第3行6列开始课</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第3行7列开始课</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第3行8列开始课</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bl>
          </a:graphicData>
        </a:graphic>
      </p:graphicFrame>
      <p:sp>
        <p:nvSpPr>
          <p:cNvPr id="3" name="Text 0"/>
          <p:cNvSpPr/>
          <p:nvPr/>
        </p:nvSpPr>
        <p:spPr>
          <a:xfrm>
            <a:off x="640080" y="274320"/>
            <a:ext cx="10972800" cy="1737360"/>
          </a:xfrm>
          <a:prstGeom prst="rect">
            <a:avLst/>
          </a:prstGeom>
          <a:noFill/>
          <a:ln/>
        </p:spPr>
        <p:txBody>
          <a:bodyPr wrap="square" lIns="0" tIns="0" rIns="0" bIns="0" rtlCol="0" anchor="t"/>
          <a:lstStyle/>
          <a:p>
            <a:pPr indent="0" marL="0">
              <a:buNone/>
            </a:pPr>
            <a:r>
              <a:rPr lang="en-US" sz="2400" b="1" dirty="0">
                <a:solidFill>
                  <a:srgbClr val="000000"/>
                </a:solidFill>
              </a:rPr>
              <a:t>中文章节开始教学安排教学安排教学安排教学安排教学安排教学安排教学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安排教学安排教学安排教学安排章节结束</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72800" cy="914400"/>
        </p:xfrm>
        <a:graphic>
          <a:graphicData uri="http://schemas.openxmlformats.org/drawingml/2006/table">
            <a:tbl>
              <a:tblPr/>
              <a:tblGrid>
                <a:gridCol w="1371600"/>
                <a:gridCol w="1371600"/>
                <a:gridCol w="1371600"/>
                <a:gridCol w="1371600"/>
                <a:gridCol w="1371600"/>
                <a:gridCol w="1371600"/>
                <a:gridCol w="1371600"/>
                <a:gridCol w="1371600"/>
              </a:tblGrid>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阶段</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任务</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来源</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时长</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练习</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反馈</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确认</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备注</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课堂训练第3行1</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课堂训练第3行2</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课堂训练第3行3</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课堂训练第3行6</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课堂训练第3行7</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课堂训练第3行8</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第4行1列开始课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第4行2列开始课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第4行3列开始课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37</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008</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第4行6列开始课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第4行7列开始课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第4行8列开始课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bl>
          </a:graphicData>
        </a:graphic>
      </p:graphicFrame>
      <p:sp>
        <p:nvSpPr>
          <p:cNvPr id="3" name="Text 0"/>
          <p:cNvSpPr/>
          <p:nvPr/>
        </p:nvSpPr>
        <p:spPr>
          <a:xfrm>
            <a:off x="640080" y="274320"/>
            <a:ext cx="10972800" cy="1737360"/>
          </a:xfrm>
          <a:prstGeom prst="rect">
            <a:avLst/>
          </a:prstGeom>
          <a:noFill/>
          <a:ln/>
        </p:spPr>
        <p:txBody>
          <a:bodyPr wrap="square" lIns="0" tIns="0" rIns="0" bIns="0" rtlCol="0" anchor="t"/>
          <a:lstStyle/>
          <a:p>
            <a:pPr indent="0" marL="0">
              <a:buNone/>
            </a:pPr>
            <a:r>
              <a:rPr lang="en-US" sz="2400" b="1" dirty="0">
                <a:solidFill>
                  <a:srgbClr val="000000"/>
                </a:solidFill>
              </a:rPr>
              <a:t>中文章节开始教学安排教学安排教学安排教学安排教学安排教学安排教学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安排教学安排教学安排教学安排章节结束</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72800" cy="914400"/>
        </p:xfrm>
        <a:graphic>
          <a:graphicData uri="http://schemas.openxmlformats.org/drawingml/2006/table">
            <a:tbl>
              <a:tblPr/>
              <a:tblGrid>
                <a:gridCol w="1371600"/>
                <a:gridCol w="1371600"/>
                <a:gridCol w="1371600"/>
                <a:gridCol w="1371600"/>
                <a:gridCol w="1371600"/>
                <a:gridCol w="1371600"/>
                <a:gridCol w="1371600"/>
                <a:gridCol w="1371600"/>
              </a:tblGrid>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阶段</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任务</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来源</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时长</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练习</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反馈</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确认</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备注</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课堂训练第4行1</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课堂训练第4行2</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课堂训练第4行3</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课堂训练第4行6</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课堂训练第4行7</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课堂训练第4行8</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第5行1列开始课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第5行2列开始课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第5行3列开始课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37</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008</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第5行6列开始课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第5行7列开始课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第5行8列开始课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bl>
          </a:graphicData>
        </a:graphic>
      </p:graphicFrame>
      <p:sp>
        <p:nvSpPr>
          <p:cNvPr id="3" name="Text 0"/>
          <p:cNvSpPr/>
          <p:nvPr/>
        </p:nvSpPr>
        <p:spPr>
          <a:xfrm>
            <a:off x="640080" y="274320"/>
            <a:ext cx="10972800" cy="1737360"/>
          </a:xfrm>
          <a:prstGeom prst="rect">
            <a:avLst/>
          </a:prstGeom>
          <a:noFill/>
          <a:ln/>
        </p:spPr>
        <p:txBody>
          <a:bodyPr wrap="square" lIns="0" tIns="0" rIns="0" bIns="0" rtlCol="0" anchor="t"/>
          <a:lstStyle/>
          <a:p>
            <a:pPr indent="0" marL="0">
              <a:buNone/>
            </a:pPr>
            <a:r>
              <a:rPr lang="en-US" sz="2400" b="1" dirty="0">
                <a:solidFill>
                  <a:srgbClr val="000000"/>
                </a:solidFill>
              </a:rPr>
              <a:t>中文章节开始教学安排教学安排教学安排教学安排教学安排教学安排教学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安排教学安排教学安排教学安排章节结束</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72800" cy="914400"/>
        </p:xfrm>
        <a:graphic>
          <a:graphicData uri="http://schemas.openxmlformats.org/drawingml/2006/table">
            <a:tbl>
              <a:tblPr/>
              <a:tblGrid>
                <a:gridCol w="1371600"/>
                <a:gridCol w="1371600"/>
                <a:gridCol w="1371600"/>
                <a:gridCol w="1371600"/>
                <a:gridCol w="1371600"/>
                <a:gridCol w="1371600"/>
                <a:gridCol w="1371600"/>
                <a:gridCol w="1371600"/>
              </a:tblGrid>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阶段</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任务</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来源</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时长</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练习</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反馈</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确认</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备注</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课堂训练第5行1</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课堂训练第5行2</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课堂训练第5行3</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课堂训练第5行6</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课堂训练第5行7</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课堂训练第5行8</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第6行1列开始课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第6行2列开始课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第6行3列开始课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37</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008</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第6行6列开始课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第6行7列开始课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第6行8列开始课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bl>
          </a:graphicData>
        </a:graphic>
      </p:graphicFrame>
      <p:sp>
        <p:nvSpPr>
          <p:cNvPr id="3" name="Text 0"/>
          <p:cNvSpPr/>
          <p:nvPr/>
        </p:nvSpPr>
        <p:spPr>
          <a:xfrm>
            <a:off x="640080" y="274320"/>
            <a:ext cx="10972800" cy="1737360"/>
          </a:xfrm>
          <a:prstGeom prst="rect">
            <a:avLst/>
          </a:prstGeom>
          <a:noFill/>
          <a:ln/>
        </p:spPr>
        <p:txBody>
          <a:bodyPr wrap="square" lIns="0" tIns="0" rIns="0" bIns="0" rtlCol="0" anchor="t"/>
          <a:lstStyle/>
          <a:p>
            <a:pPr indent="0" marL="0">
              <a:buNone/>
            </a:pPr>
            <a:r>
              <a:rPr lang="en-US" sz="2400" b="1" dirty="0">
                <a:solidFill>
                  <a:srgbClr val="000000"/>
                </a:solidFill>
              </a:rPr>
              <a:t>中文章节开始教学安排教学安排教学安排教学安排教学安排教学安排教学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安排教学安排教学安排教学安排章节结束</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72800" cy="914400"/>
        </p:xfrm>
        <a:graphic>
          <a:graphicData uri="http://schemas.openxmlformats.org/drawingml/2006/table">
            <a:tbl>
              <a:tblPr/>
              <a:tblGrid>
                <a:gridCol w="1371600"/>
                <a:gridCol w="1371600"/>
                <a:gridCol w="1371600"/>
                <a:gridCol w="1371600"/>
                <a:gridCol w="1371600"/>
                <a:gridCol w="1371600"/>
                <a:gridCol w="1371600"/>
                <a:gridCol w="1371600"/>
              </a:tblGrid>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阶段</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任务</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来源</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时长</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练习</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反馈</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确认</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备注</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课堂训练第6行1</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课堂训练第6行2</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课堂训练第6行3</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课堂训练第6行6</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课堂训练第6行7</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课堂训练第6行8</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第7行1列开始课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第7行2列开始课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第7行3列开始课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37</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008</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第7行6列开始课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第7行7列开始课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第7行8列开始课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bl>
          </a:graphicData>
        </a:graphic>
      </p:graphicFrame>
      <p:sp>
        <p:nvSpPr>
          <p:cNvPr id="3" name="Text 0"/>
          <p:cNvSpPr/>
          <p:nvPr/>
        </p:nvSpPr>
        <p:spPr>
          <a:xfrm>
            <a:off x="640080" y="274320"/>
            <a:ext cx="10972800" cy="1737360"/>
          </a:xfrm>
          <a:prstGeom prst="rect">
            <a:avLst/>
          </a:prstGeom>
          <a:noFill/>
          <a:ln/>
        </p:spPr>
        <p:txBody>
          <a:bodyPr wrap="square" lIns="0" tIns="0" rIns="0" bIns="0" rtlCol="0" anchor="t"/>
          <a:lstStyle/>
          <a:p>
            <a:pPr indent="0" marL="0">
              <a:buNone/>
            </a:pPr>
            <a:r>
              <a:rPr lang="en-US" sz="2400" b="1" dirty="0">
                <a:solidFill>
                  <a:srgbClr val="000000"/>
                </a:solidFill>
              </a:rPr>
              <a:t>中文章节开始教学安排教学安排教学安排教学安排教学安排教学安排教学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安排教学安排教学安排教学安排章节结束</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72800" cy="914400"/>
        </p:xfrm>
        <a:graphic>
          <a:graphicData uri="http://schemas.openxmlformats.org/drawingml/2006/table">
            <a:tbl>
              <a:tblPr/>
              <a:tblGrid>
                <a:gridCol w="1371600"/>
                <a:gridCol w="1371600"/>
                <a:gridCol w="1371600"/>
                <a:gridCol w="1371600"/>
                <a:gridCol w="1371600"/>
                <a:gridCol w="1371600"/>
                <a:gridCol w="1371600"/>
                <a:gridCol w="1371600"/>
              </a:tblGrid>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阶段</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任务</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来源</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时长</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练习</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反馈</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确认</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备注</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课堂训练第7行1</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课堂训练第7行2</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课堂训练第7行3</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课堂训练第7行6</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课堂训练第7行7</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课堂训练第7行8</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第8行1列开始课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第8行2列开始课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第8行3列开始课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37</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008</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第8行6列开始课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第8行7列开始课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第8行8列开始课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bl>
          </a:graphicData>
        </a:graphic>
      </p:graphicFrame>
      <p:sp>
        <p:nvSpPr>
          <p:cNvPr id="3" name="Text 0"/>
          <p:cNvSpPr/>
          <p:nvPr/>
        </p:nvSpPr>
        <p:spPr>
          <a:xfrm>
            <a:off x="640080" y="274320"/>
            <a:ext cx="10972800" cy="1737360"/>
          </a:xfrm>
          <a:prstGeom prst="rect">
            <a:avLst/>
          </a:prstGeom>
          <a:noFill/>
          <a:ln/>
        </p:spPr>
        <p:txBody>
          <a:bodyPr wrap="square" lIns="0" tIns="0" rIns="0" bIns="0" rtlCol="0" anchor="t"/>
          <a:lstStyle/>
          <a:p>
            <a:pPr indent="0" marL="0">
              <a:buNone/>
            </a:pPr>
            <a:r>
              <a:rPr lang="en-US" sz="2400" b="1" dirty="0">
                <a:solidFill>
                  <a:srgbClr val="000000"/>
                </a:solidFill>
              </a:rPr>
              <a:t>中文章节开始教学安排教学安排教学安排教学安排教学安排教学安排教学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安排教学安排教学安排教学安排章节结束</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72800" cy="914400"/>
        </p:xfrm>
        <a:graphic>
          <a:graphicData uri="http://schemas.openxmlformats.org/drawingml/2006/table">
            <a:tbl>
              <a:tblPr/>
              <a:tblGrid>
                <a:gridCol w="1371600"/>
                <a:gridCol w="1371600"/>
                <a:gridCol w="1371600"/>
                <a:gridCol w="1371600"/>
                <a:gridCol w="1371600"/>
                <a:gridCol w="1371600"/>
                <a:gridCol w="1371600"/>
                <a:gridCol w="1371600"/>
              </a:tblGrid>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阶段</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任务</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来源</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时长</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练习</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反馈</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确认</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备注</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r h="0">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课堂训练第8行1</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课堂训练第8行2</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课堂训练第8行3</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课堂训练第8行6</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课堂训练第8行7</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c>
                  <a:txBody>
                    <a:bodyPr/>
                    <a:lstStyle/>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课堂训练课堂训</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练课堂训练课堂</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训练课堂训练课</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堂训练课堂训练</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课堂训练第8行8</a:t>
                      </a:r>
                      <a:endParaRPr lang="en-US" sz="1200" dirty="0">
                        <a:latin typeface="Microsoft YaHei" charset="0"/>
                        <a:ea typeface="Microsoft YaHei" charset="0"/>
                        <a:cs typeface="Microsoft YaHei" charset="0"/>
                      </a:endParaRPr>
                    </a:p>
                    <a:p>
                      <a:pPr indent="0" marL="0">
                        <a:buNone/>
                      </a:pPr>
                      <a:r>
                        <a:rPr lang="en-US" sz="1200" dirty="0">
                          <a:solidFill>
                            <a:srgbClr val="000000"/>
                          </a:solidFill>
                          <a:latin typeface="Microsoft YaHei" pitchFamily="34" charset="0"/>
                          <a:ea typeface="Microsoft YaHei" pitchFamily="34" charset="-122"/>
                          <a:cs typeface="Microsoft YaHei" pitchFamily="34" charset="-120"/>
                        </a:rPr>
                        <a:t>列结束</a:t>
                      </a:r>
                      <a:endParaRPr lang="en-US" sz="1200" dirty="0">
                        <a:latin typeface="Microsoft YaHei" charset="0"/>
                        <a:ea typeface="Microsoft YaHei" charset="0"/>
                        <a:cs typeface="Microsoft YaHei" charset="0"/>
                      </a:endParaRPr>
                    </a:p>
                  </a:txBody>
                  <a:tcPr marL="64008" marR="64008" marT="64008" marB="64008" anchor="t">
                    <a:lnL w="12700" cap="flat" cmpd="sng" algn="ctr">
                      <a:solidFill>
                        <a:srgbClr val="B0B0B0"/>
                      </a:solidFill>
                      <a:prstDash val="solid"/>
                      <a:round/>
                      <a:headEnd type="none" w="med" len="med"/>
                      <a:tailEnd type="none" w="med" len="med"/>
                    </a:lnL>
                    <a:lnR w="12700" cap="flat" cmpd="sng" algn="ctr">
                      <a:solidFill>
                        <a:srgbClr val="B0B0B0"/>
                      </a:solidFill>
                      <a:prstDash val="solid"/>
                      <a:round/>
                      <a:headEnd type="none" w="med" len="med"/>
                      <a:tailEnd type="none" w="med" len="med"/>
                    </a:lnR>
                    <a:lnT w="12700" cap="flat" cmpd="sng" algn="ctr">
                      <a:solidFill>
                        <a:srgbClr val="B0B0B0"/>
                      </a:solidFill>
                      <a:prstDash val="solid"/>
                      <a:round/>
                      <a:headEnd type="none" w="med" len="med"/>
                      <a:tailEnd type="none" w="med" len="med"/>
                    </a:lnT>
                    <a:lnB w="12700" cap="flat" cmpd="sng" algn="ctr">
                      <a:solidFill>
                        <a:srgbClr val="B0B0B0"/>
                      </a:solidFill>
                      <a:prstDash val="solid"/>
                      <a:round/>
                      <a:headEnd type="none" w="med" len="med"/>
                      <a:tailEnd type="none" w="med" len="med"/>
                    </a:lnB>
                  </a:tcPr>
                </a:tc>
              </a:tr>
            </a:tbl>
          </a:graphicData>
        </a:graphic>
      </p:graphicFrame>
      <p:sp>
        <p:nvSpPr>
          <p:cNvPr id="3" name="Text 0"/>
          <p:cNvSpPr/>
          <p:nvPr/>
        </p:nvSpPr>
        <p:spPr>
          <a:xfrm>
            <a:off x="640080" y="274320"/>
            <a:ext cx="10972800" cy="1737360"/>
          </a:xfrm>
          <a:prstGeom prst="rect">
            <a:avLst/>
          </a:prstGeom>
          <a:noFill/>
          <a:ln/>
        </p:spPr>
        <p:txBody>
          <a:bodyPr wrap="square" lIns="0" tIns="0" rIns="0" bIns="0" rtlCol="0" anchor="t"/>
          <a:lstStyle/>
          <a:p>
            <a:pPr indent="0" marL="0">
              <a:buNone/>
            </a:pPr>
            <a:r>
              <a:rPr lang="en-US" sz="2400" b="1" dirty="0">
                <a:solidFill>
                  <a:srgbClr val="000000"/>
                </a:solidFill>
              </a:rPr>
              <a:t>中文章节开始教学安排教学安排教学安排教学安排教学安排教学安排教学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安排教学安排教学安排教学安排教学安排教学安排教学安排教学安排教学</a:t>
            </a:r>
            <a:endParaRPr lang="en-US" sz="2400" dirty="0"/>
          </a:p>
          <a:p>
            <a:pPr indent="0" marL="0">
              <a:buNone/>
            </a:pPr>
            <a:r>
              <a:rPr lang="en-US" sz="2400" b="1" dirty="0">
                <a:solidFill>
                  <a:srgbClr val="000000"/>
                </a:solidFill>
              </a:rPr>
              <a:t>安排教学安排教学安排教学安排章节结束</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文长标题开始分数教学分数教学分数教学分数教学分数教学分数教学分数教学分数教学分数教学分数教学分数教学分数教学分数教学分数教学分数教学分数教学分数教学分数教学分数教学分数教学分数教学分数教学分数教学分数教学分数教学分数教学标题结束</dc:title>
  <dc:subject>教学办公文档</dc:subject>
  <dc:creator>小智</dc:creator>
  <cp:lastModifiedBy>小智</cp:lastModifiedBy>
  <cp:revision>1</cp:revision>
  <dcterms:created xsi:type="dcterms:W3CDTF">2026-10-04T02:21:10Z</dcterms:created>
  <dcterms:modified xsi:type="dcterms:W3CDTF">2026-10-04T02:21:10Z</dcterms:modified>
</cp:coreProperties>
</file>